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21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4572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HPAS Referral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00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D6DCE5"/>
                </a:solidFill>
                <a:latin typeface="Calibri"/>
              </a:rPr>
              <a:t>Second release: what we did in the last few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663440"/>
            <a:ext cx="4544514" cy="5129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200" dirty="0">
                <a:solidFill>
                  <a:srgbClr val="C0C8D4"/>
                </a:solidFill>
                <a:latin typeface="Calibri"/>
              </a:rPr>
              <a:t>Advanced Information Systems Development - presentation</a:t>
            </a:r>
          </a:p>
          <a:p>
            <a:pPr>
              <a:spcAft>
                <a:spcPts val="400"/>
              </a:spcAft>
            </a:pPr>
            <a:r>
              <a:rPr sz="1200" dirty="0">
                <a:solidFill>
                  <a:srgbClr val="C0C8D4"/>
                </a:solidFill>
                <a:latin typeface="Calibri"/>
              </a:rPr>
              <a:t>Business Process Modelling and Enterprise Architecture - full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1170432"/>
            <a:ext cx="11091672" cy="20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What the system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07070"/>
                </a:solidFill>
                <a:latin typeface="Calibri"/>
              </a:rPr>
              <a:t>A UK hospital referral pathway modelled and executed in Camunda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•  Eight processes, nine BPMN models.</a:t>
            </a:r>
            <a:r>
              <a:rPr sz="1500">
                <a:solidFill>
                  <a:srgbClr val="404040"/>
                </a:solidFill>
                <a:latin typeface="Calibri"/>
              </a:rPr>
              <a:t>  Referral intake, clinical review, appointment scheduling, patient notification, outpatient letter, funding determination, payment processing, enquiry routing.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•  Six external participants.</a:t>
            </a:r>
            <a:r>
              <a:rPr sz="1500">
                <a:solidFill>
                  <a:srgbClr val="404040"/>
                </a:solidFill>
                <a:latin typeface="Calibri"/>
              </a:rPr>
              <a:t>  GP, patient, funder, external scheduling service, external correspondence service, payment provider - joined to the hospital by message flows.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•  37 Camunda Forms, 31 job workers.</a:t>
            </a:r>
            <a:r>
              <a:rPr sz="1500">
                <a:solidFill>
                  <a:srgbClr val="404040"/>
                </a:solidFill>
                <a:latin typeface="Calibri"/>
              </a:rPr>
              <a:t>  Three Java projects: shared workers, P10 letter workers, P7 funding workers.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•  One workflow engine as the orchestrator.</a:t>
            </a:r>
            <a:r>
              <a:rPr sz="1500">
                <a:solidFill>
                  <a:srgbClr val="404040"/>
                </a:solidFill>
                <a:latin typeface="Calibri"/>
              </a:rPr>
              <a:t>  The BPMN model is the program: human tasks go to Tasklist, automated steps run as job workers.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1170432"/>
            <a:ext cx="11091672" cy="20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07070"/>
                </a:solidFill>
                <a:latin typeface="Calibri"/>
              </a:rPr>
              <a:t>Numbers from the final package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Artefact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Artefact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BPMN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9 (15 process definitions)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Relational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11 (109 columns)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Camunda 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Role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Job workers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31 methods in 13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Documented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14 statements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i*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SD + SR (13 / 12 actors)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Read-only demo 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1170432"/>
            <a:ext cx="11091672" cy="20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Strategic view of the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07070"/>
                </a:solidFill>
                <a:latin typeface="Calibri"/>
              </a:rPr>
              <a:t>High-level model: who is responsible for what, and how it links to the operational processes</a:t>
            </a:r>
          </a:p>
        </p:txBody>
      </p:sp>
      <p:pic>
        <p:nvPicPr>
          <p:cNvPr id="5" name="Picture 4" descr="strate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783080"/>
            <a:ext cx="11064240" cy="3366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58064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/>
              </a:rPr>
              <a:t>•  Four lanes inside the hospital (Referral &amp; Medical Secretaries / Consultants &amp; CNS / Bookings &amp; Call Handling / Finance) plus two external pools.</a:t>
            </a:r>
          </a:p>
          <a:p>
            <a:r>
              <a:rPr sz="1100">
                <a:solidFill>
                  <a:srgbClr val="404040"/>
                </a:solidFill>
                <a:latin typeface="Calibri"/>
              </a:rPr>
              <a:t>•  One referral runs left to right; each box is delivered by one of the operational processes shown in the next slides.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1170432"/>
            <a:ext cx="11091672" cy="20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i* model 1: Strategic Dependency (SD)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07070"/>
                </a:solidFill>
                <a:latin typeface="Calibri"/>
              </a:rPr>
              <a:t>Who depends on whom - 13 actors, 32 dependencies</a:t>
            </a:r>
          </a:p>
        </p:txBody>
      </p:sp>
      <p:pic>
        <p:nvPicPr>
          <p:cNvPr id="5" name="Picture 4" descr="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390" y="1600200"/>
            <a:ext cx="6008914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978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/>
              </a:rPr>
              <a:t>•  Each line is a dependency: the depender needs the dependee for a goal, a task, a quality or a resource.</a:t>
            </a:r>
          </a:p>
          <a:p>
            <a:r>
              <a:rPr sz="1100">
                <a:solidFill>
                  <a:srgbClr val="404040"/>
                </a:solidFill>
                <a:latin typeface="Calibri"/>
              </a:rPr>
              <a:t>•  It shows the collaboration boundary: hospital roles, and the six external participants they rely 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1170432"/>
            <a:ext cx="11091672" cy="20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i* model 2: Strategic Rationale (SR)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07070"/>
                </a:solidFill>
                <a:latin typeface="Calibri"/>
              </a:rPr>
              <a:t>Why each role is designed that way - 12 actors, 59 intentional elements, 17 cross-actor dependencies</a:t>
            </a:r>
          </a:p>
        </p:txBody>
      </p:sp>
      <p:pic>
        <p:nvPicPr>
          <p:cNvPr id="5" name="Picture 4" descr="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092" y="1600200"/>
            <a:ext cx="654351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7044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04040"/>
                </a:solidFill>
                <a:latin typeface="Calibri"/>
              </a:rPr>
              <a:t>•  Goals (rounded), tasks (hexagons), soft goals (clouds) and resources (rectangles) inside each role.</a:t>
            </a:r>
          </a:p>
          <a:p>
            <a:r>
              <a:rPr sz="1050">
                <a:solidFill>
                  <a:srgbClr val="404040"/>
                </a:solidFill>
                <a:latin typeface="Calibri"/>
              </a:rPr>
              <a:t>•  AND/OR refinements decompose goals; contribution links (help / make / hurt) show which tasks support which soft goal - for example manual checking hurts administrative efficiency, automation helps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1170432"/>
            <a:ext cx="11091672" cy="20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Response to the five review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07070"/>
                </a:solidFill>
                <a:latin typeface="Calibri"/>
              </a:rPr>
              <a:t>Each point, what we changed, and how it is verified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</a:rPr>
                        <a:t>Review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</a:rPr>
                        <a:t>What we 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1. Merging gateways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4 converging gateways added (P1, P2, P3, P4), in the same lane, with diagram interchange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structural check: 0 implicit merges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2. Distinct pathways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7 decision conditions made null-safe; the two-week test now compares dates, not strings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inspection + one end-to-end run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3. Form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37 forms: 131 fields with rules, 99 required, 19 patterns, 123 length limits, 11 fields retyped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form comparison against the original package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4. Database persistence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11 tables, one write service, every worker persists and audits; duplicate payment refused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11 tables populated; survived restart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5. Role-based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candidate groups on every user task (including the 3 that had none); group names unified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task query per group: others see nothing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1170432"/>
            <a:ext cx="11091672" cy="20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Further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07070"/>
                </a:solidFill>
                <a:latin typeface="Calibri"/>
              </a:rPr>
              <a:t>The improvements made after the first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•  Operational BPMN.</a:t>
            </a:r>
            <a:r>
              <a:rPr sz="1400">
                <a:solidFill>
                  <a:srgbClr val="404040"/>
                </a:solidFill>
                <a:latin typeface="Calibri"/>
              </a:rPr>
              <a:t>  Explicit merging gateways, hardened conditions, role groups on every user task, and all nine models translated to English (73 documentation blocks).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•  Camunda Forms.</a:t>
            </a:r>
            <a:r>
              <a:rPr sz="1400">
                <a:solidFill>
                  <a:srgbClr val="404040"/>
                </a:solidFill>
                <a:latin typeface="Calibri"/>
              </a:rPr>
              <a:t>  Validation added field by field; money fields are numeric, dates use a date control; three fields deliberately left optional because a blank value carries meaning.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•  External workers.</a:t>
            </a:r>
            <a:r>
              <a:rPr sz="1400">
                <a:solidFill>
                  <a:srgbClr val="404040"/>
                </a:solidFill>
                <a:latin typeface="Calibri"/>
              </a:rPr>
              <a:t>  All 31 workers persist what they learn and write an audit row; date parsing made tolerant after a silent fallback was found; 43 output strings translated.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•  Integration.</a:t>
            </a:r>
            <a:r>
              <a:rPr sz="1400">
                <a:solidFill>
                  <a:srgbClr val="404040"/>
                </a:solidFill>
                <a:latin typeface="Calibri"/>
              </a:rPr>
              <a:t>  Process variables to workers to a relational store, plus deployment and demonstration scripts so the whole system can be reproduced.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1170432"/>
            <a:ext cx="11091672" cy="20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07070"/>
                </a:solidFill>
                <a:latin typeface="Calibri"/>
              </a:rPr>
              <a:t>What we can show, and how it was checked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28930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04040"/>
                          </a:solidFill>
                          <a:latin typeface="Calibri"/>
                        </a:rPr>
                        <a:t>BPMN structure (dangling refs, cross-process flows, child order, orphans, DI, implicit merges)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04040"/>
                          </a:solidFill>
                          <a:latin typeface="Calibri"/>
                        </a:rPr>
                        <a:t>9 of 9 models: every counter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04040"/>
                          </a:solidFill>
                          <a:latin typeface="Calibri"/>
                        </a:rPr>
                        <a:t>Form change safety (field keys, option values, component ids)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04040"/>
                          </a:solidFill>
                          <a:latin typeface="Calibri"/>
                        </a:rPr>
                        <a:t>identical to the original package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04040"/>
                          </a:solidFill>
                          <a:latin typeface="Calibri"/>
                        </a:rPr>
                        <a:t>Java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04040"/>
                          </a:solidFill>
                          <a:latin typeface="Calibri"/>
                        </a:rPr>
                        <a:t>3 of 3 projects compile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04040"/>
                          </a:solidFill>
                          <a:latin typeface="Calibri"/>
                        </a:rPr>
                        <a:t>Referral end to 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04040"/>
                          </a:solidFill>
                          <a:latin typeface="Calibri"/>
                        </a:rPr>
                        <a:t>COMPLETED, 0 incidents, data persisted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04040"/>
                          </a:solidFill>
                          <a:latin typeface="Calibri"/>
                        </a:rPr>
                        <a:t>Persistence across restart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04040"/>
                          </a:solidFill>
                          <a:latin typeface="Calibri"/>
                        </a:rPr>
                        <a:t>identical row counts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04040"/>
                          </a:solidFill>
                          <a:latin typeface="Calibri"/>
                        </a:rPr>
                        <a:t>Duplicate payment for the same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04040"/>
                          </a:solidFill>
                          <a:latin typeface="Calibri"/>
                        </a:rPr>
                        <a:t>refused; one row remains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04040"/>
                          </a:solidFill>
                          <a:latin typeface="Calibri"/>
                        </a:rPr>
                        <a:t>Role visibility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04040"/>
                          </a:solidFill>
                          <a:latin typeface="Calibri"/>
                        </a:rPr>
                        <a:t>each task visible only to its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04040"/>
                          </a:solidFill>
                          <a:latin typeface="Calibri"/>
                        </a:rPr>
                        <a:t>i*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04040"/>
                          </a:solidFill>
                          <a:latin typeface="Calibri"/>
                        </a:rPr>
                        <a:t>0 iStar 2.0 violations, 0 isolated elements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1170432"/>
            <a:ext cx="11091672" cy="20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How to run it in three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•  Deploy.</a:t>
            </a:r>
            <a:r>
              <a:rPr sz="1600">
                <a:solidFill>
                  <a:srgbClr val="404040"/>
                </a:solidFill>
                <a:latin typeface="Calibri"/>
              </a:rPr>
              <a:t>  python deploy-package.py - nine models and 37 forms in one call, 15 process definitions and 37 form versions.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•  Run the workers.</a:t>
            </a:r>
            <a:r>
              <a:rPr sz="1600">
                <a:solidFill>
                  <a:srgbClr val="404040"/>
                </a:solidFill>
                <a:latin typeface="Calibri"/>
              </a:rPr>
              <a:t>  Start WorkerApplication: jobs are picked up, every step is persisted and audited on port 8090.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•  Show it.</a:t>
            </a:r>
            <a:r>
              <a:rPr sz="1600">
                <a:solidFill>
                  <a:srgbClr val="404040"/>
                </a:solidFill>
                <a:latin typeface="Calibri"/>
              </a:rPr>
              <a:t>  Tasklist for the human tasks; the summary and chain endpoints for the database evidence; stop and restart to prove persistence.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707070"/>
                </a:solidFill>
                <a:latin typeface="Calibri"/>
              </a:rPr>
              <a:t>What to look for: the form refuses a blank required field; the referral completes with no incident;</a:t>
            </a:r>
          </a:p>
          <a:p>
            <a:r>
              <a:rPr sz="1200" i="1">
                <a:solidFill>
                  <a:srgbClr val="707070"/>
                </a:solidFill>
                <a:latin typeface="Calibri"/>
              </a:rPr>
              <a:t>a second payment for the same case is refused; the row counts are the same after a restart.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1170432"/>
            <a:ext cx="11091672" cy="20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Known 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07070"/>
                </a:solidFill>
                <a:latin typeface="Calibri"/>
              </a:rPr>
              <a:t>Stated openly rather than left to be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•  Duplicated workers.</a:t>
            </a:r>
            <a:r>
              <a:rPr sz="1400">
                <a:solidFill>
                  <a:srgbClr val="404040"/>
                </a:solidFill>
                <a:latin typeface="Calibri"/>
              </a:rPr>
              <a:t>  Three job types are implemented in two projects; only one application may run at a time. Next: remove the duplicates.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•  Demonstration database.</a:t>
            </a:r>
            <a:r>
              <a:rPr sz="1400">
                <a:solidFill>
                  <a:srgbClr val="404040"/>
                </a:solidFill>
                <a:latin typeface="Calibri"/>
              </a:rPr>
              <a:t>  A single-file store, so concurrency is untested. Next: move to a server database and test concurrent instances.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•  No automated regression suite.</a:t>
            </a:r>
            <a:r>
              <a:rPr sz="1400">
                <a:solidFill>
                  <a:srgbClr val="404040"/>
                </a:solidFill>
                <a:latin typeface="Calibri"/>
              </a:rPr>
              <a:t>  Verification is scripted and manual. Next: turn the scripts into tests that run on every build.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•  Not yet built.</a:t>
            </a:r>
            <a:r>
              <a:rPr sz="1400">
                <a:solidFill>
                  <a:srgbClr val="404040"/>
                </a:solidFill>
                <a:latin typeface="Calibri"/>
              </a:rPr>
              <a:t>  A live pathway dashboard, encryption at rest, measured administrative burden. Each is a small, clearly scoped piece of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1170432"/>
            <a:ext cx="11091672" cy="20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07070"/>
                </a:solidFill>
                <a:latin typeface="Calibri"/>
              </a:rPr>
              <a:t>Sources used for the notation, the models and the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 Object Management Group. Business Process Model and Notation (BPMN), version 2.0.2. OMG, 2013.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 Camunda. Camunda 8 documentation: BPMN coverage, job workers, forms, Zeebe. docs.camunda.io (accessed 2026).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 Dalpiaz, F., Franch, X. and Horkoff, J. iStar 2.0 Language Guide. arXiv:1605.07767, 2016.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 piStar modelling tool, version 2.1.0 (iStar 2.0). github.com/jhcp/piStar.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 Spring Boot reference documentation, version 4.x. spring.io/projects/spring-boot.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 Java Platform, Standard Edition 21 API specification. Oracle.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 H2 Database Engine documentation, version 2.4. h2database.com.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Thank you - questions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8404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8D0DC"/>
                </a:solidFill>
                <a:latin typeface="Calibri"/>
              </a:rPr>
              <a:t>Supporting documents: requirements traceability, acceptance criteria evaluation, further development, i* model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1262</Words>
  <Application>Microsoft Office PowerPoint</Application>
  <PresentationFormat>宽屏</PresentationFormat>
  <Paragraphs>113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佳 陈</cp:lastModifiedBy>
  <cp:revision>2</cp:revision>
  <dcterms:created xsi:type="dcterms:W3CDTF">2013-01-27T09:14:16Z</dcterms:created>
  <dcterms:modified xsi:type="dcterms:W3CDTF">2026-10-20T09:28:32Z</dcterms:modified>
  <cp:category/>
</cp:coreProperties>
</file>